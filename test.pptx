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8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7" roundtripDataSignature="AMtx7mhfL8vInQtKKr/Dr3LxmVLG5yJ+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790E90-C01C-4117-A910-6CAE1C52912D}">
  <a:tblStyle styleId="{64790E90-C01C-4117-A910-6CAE1C5291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AE3F3"/>
            </a:gs>
            <a:gs pos="100000">
              <a:srgbClr val="B4C7E7"/>
            </a:gs>
          </a:gsLst>
          <a:lin ang="162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8360" y="106200"/>
            <a:ext cx="174420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2"/>
          <p:cNvSpPr/>
          <p:nvPr/>
        </p:nvSpPr>
        <p:spPr>
          <a:xfrm>
            <a:off x="7763400" y="23040"/>
            <a:ext cx="420588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Gestão do Desempenho Operacional – GDO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32"/>
          <p:cNvCxnSpPr/>
          <p:nvPr/>
        </p:nvCxnSpPr>
        <p:spPr>
          <a:xfrm>
            <a:off x="2222640" y="407880"/>
            <a:ext cx="9771480" cy="0"/>
          </a:xfrm>
          <a:prstGeom prst="straightConnector1">
            <a:avLst/>
          </a:prstGeom>
          <a:noFill/>
          <a:ln cap="flat" cmpd="sng" w="22300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" name="Google Shape;9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3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/>
          <p:nvPr/>
        </p:nvSpPr>
        <p:spPr>
          <a:xfrm>
            <a:off x="882720" y="1765440"/>
            <a:ext cx="10389240" cy="191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0" u="none" cap="none" strike="noStrike">
                <a:solidFill>
                  <a:srgbClr val="333F4F"/>
                </a:solidFill>
                <a:latin typeface="Arial"/>
                <a:ea typeface="Arial"/>
                <a:cs typeface="Arial"/>
                <a:sym typeface="Arial"/>
              </a:rPr>
              <a:t>GESTÃO DO DESEMPENHO OPERACIONAL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870480" y="6197760"/>
            <a:ext cx="10217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Agosto de 2020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893520" y="4235760"/>
            <a:ext cx="10389240" cy="7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solidFill>
                  <a:srgbClr val="333F4F"/>
                </a:solidFill>
                <a:latin typeface="Arial"/>
                <a:ea typeface="Arial"/>
                <a:cs typeface="Arial"/>
                <a:sym typeface="Arial"/>
              </a:rPr>
              <a:t>23º BPM / 7ª RPM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114920" y="955080"/>
            <a:ext cx="10217160" cy="527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742680" lvl="0" marL="74304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3200"/>
              <a:buFont typeface="Noto Sans Symbols"/>
              <a:buAutoNum type="arabicPeriod"/>
            </a:pPr>
            <a:r>
              <a:rPr b="1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Avaliação e análise de Resultados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1.1	Indicadores de Finalísticos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1.2	Indicadores de Ações Qualificadas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1.3	Indicador de Ação Comunitária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1.4	Indicador de Trânsito Urbano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1.5	Indicadores de Ações Estaduais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1.6	Índice de POG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2.	Planos de Ação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898560" y="2949840"/>
            <a:ext cx="10543680" cy="82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INDICADORES FINALÍSTICOS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CRIMES VIOLENTOS (TCV)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Google Shape;82;p4"/>
          <p:cNvGraphicFramePr/>
          <p:nvPr/>
        </p:nvGraphicFramePr>
        <p:xfrm>
          <a:off x="248150" y="1410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210675"/>
                <a:gridCol w="1048325"/>
                <a:gridCol w="914400"/>
                <a:gridCol w="755650"/>
                <a:gridCol w="719275"/>
                <a:gridCol w="987475"/>
                <a:gridCol w="731525"/>
                <a:gridCol w="658075"/>
                <a:gridCol w="902150"/>
                <a:gridCol w="670325"/>
                <a:gridCol w="743400"/>
                <a:gridCol w="1023850"/>
                <a:gridCol w="731525"/>
                <a:gridCol w="599050"/>
              </a:tblGrid>
              <a:tr h="357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57125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531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TCV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" name="Google Shape;83;p4"/>
          <p:cNvSpPr/>
          <p:nvPr/>
        </p:nvSpPr>
        <p:spPr>
          <a:xfrm>
            <a:off x="556920" y="5843880"/>
            <a:ext cx="53679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PLP = Percentual Limite de Pontuação.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CRIMES VIOLENTOS (TCV)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HOMICÍDIOS CONSUMADOS (THC)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5" name="Google Shape;95;p6"/>
          <p:cNvGraphicFramePr/>
          <p:nvPr/>
        </p:nvGraphicFramePr>
        <p:xfrm>
          <a:off x="25200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210675"/>
                <a:gridCol w="1048325"/>
                <a:gridCol w="914400"/>
                <a:gridCol w="755650"/>
                <a:gridCol w="719275"/>
                <a:gridCol w="987475"/>
                <a:gridCol w="731525"/>
                <a:gridCol w="658075"/>
                <a:gridCol w="902150"/>
                <a:gridCol w="682550"/>
                <a:gridCol w="719275"/>
                <a:gridCol w="1036075"/>
                <a:gridCol w="731525"/>
                <a:gridCol w="598675"/>
              </a:tblGrid>
              <a:tr h="357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57125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531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HOMICÍDIOS CONS.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HOMICÍDIOS CONS.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6"/>
          <p:cNvSpPr/>
          <p:nvPr/>
        </p:nvSpPr>
        <p:spPr>
          <a:xfrm>
            <a:off x="556920" y="5843880"/>
            <a:ext cx="53679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PLP = Percentual Limite de Pontuação.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6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HOMICÍDIOS CONSUMADOS (THC)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-2160" y="777600"/>
            <a:ext cx="12193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QUALIFICADA DE FURTOS (TQF)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56920" y="5843880"/>
            <a:ext cx="536796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PLP = Percentual Limite de Pontuação.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0" name="Google Shape;110;p8"/>
          <p:cNvGraphicFramePr/>
          <p:nvPr/>
        </p:nvGraphicFramePr>
        <p:xfrm>
          <a:off x="25200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210675"/>
                <a:gridCol w="1048325"/>
                <a:gridCol w="914400"/>
                <a:gridCol w="755650"/>
                <a:gridCol w="719275"/>
                <a:gridCol w="987475"/>
                <a:gridCol w="731525"/>
                <a:gridCol w="658075"/>
                <a:gridCol w="902150"/>
                <a:gridCol w="682550"/>
                <a:gridCol w="719275"/>
                <a:gridCol w="1036075"/>
                <a:gridCol w="731525"/>
                <a:gridCol w="598675"/>
              </a:tblGrid>
              <a:tr h="35712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POPULAÇÃO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57125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 %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(em relação à 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PLP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531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FURTOS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FURTOS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TQF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 vMerge="1"/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- 9,09%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" name="Google Shape;111;p8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QUALIFICADA DE FURTOS (TQF)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693720" y="2670480"/>
            <a:ext cx="1074852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INDICADORES DE AÇÕES QUALIFICADAS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/>
          <p:nvPr/>
        </p:nvSpPr>
        <p:spPr>
          <a:xfrm>
            <a:off x="15480" y="777600"/>
            <a:ext cx="12175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APREENSÃO DE ARMAS DE FOGO (IAF)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p11"/>
          <p:cNvGraphicFramePr/>
          <p:nvPr/>
        </p:nvGraphicFramePr>
        <p:xfrm>
          <a:off x="25200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552325"/>
                <a:gridCol w="1353250"/>
                <a:gridCol w="938525"/>
                <a:gridCol w="1792075"/>
                <a:gridCol w="719275"/>
                <a:gridCol w="1490400"/>
                <a:gridCol w="984250"/>
                <a:gridCol w="1865150"/>
                <a:gridCol w="932400"/>
              </a:tblGrid>
              <a:tr h="3344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</a:tr>
              <a:tr h="9172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ARMAS COM CONDUZIDOS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ARMAS COM CONDUZIDOS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66,67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66,67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0000"/>
                    </a:solidFill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" name="Google Shape;129;p11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≤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&gt; 100% e &lt; 110%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110%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1"/>
          <p:cNvSpPr/>
          <p:nvPr/>
        </p:nvSpPr>
        <p:spPr>
          <a:xfrm>
            <a:off x="556920" y="5843880"/>
            <a:ext cx="536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15480" y="777600"/>
            <a:ext cx="12175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APREENSÃO DE ARMAS DE FOGO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/>
          <p:nvPr/>
        </p:nvSpPr>
        <p:spPr>
          <a:xfrm>
            <a:off x="15480" y="777600"/>
            <a:ext cx="1217592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REAÇÃO IMEDIATA AOS CRIMES VIOLENTOS (TRI)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p13"/>
          <p:cNvGraphicFramePr/>
          <p:nvPr/>
        </p:nvGraphicFramePr>
        <p:xfrm>
          <a:off x="5925240" y="545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842550"/>
                <a:gridCol w="1694150"/>
                <a:gridCol w="675350"/>
              </a:tblGrid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4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13"/>
          <p:cNvSpPr/>
          <p:nvPr/>
        </p:nvSpPr>
        <p:spPr>
          <a:xfrm>
            <a:off x="556920" y="5843880"/>
            <a:ext cx="536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Armazém de Dados / REDS.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" name="Google Shape;144;p13"/>
          <p:cNvGraphicFramePr/>
          <p:nvPr/>
        </p:nvGraphicFramePr>
        <p:xfrm>
          <a:off x="134280" y="1477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109150"/>
                <a:gridCol w="1085050"/>
                <a:gridCol w="1060550"/>
                <a:gridCol w="670325"/>
                <a:gridCol w="645850"/>
                <a:gridCol w="1182600"/>
                <a:gridCol w="645850"/>
                <a:gridCol w="1109150"/>
                <a:gridCol w="950750"/>
                <a:gridCol w="694800"/>
                <a:gridCol w="864725"/>
                <a:gridCol w="1222200"/>
                <a:gridCol w="670325"/>
              </a:tblGrid>
              <a:tr h="28295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 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82950">
                <a:tc v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 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7232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AUTORES DE CV PRESOS / APREEND.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AUTORES DE CV PRESOS / APREEND.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CRIMES VIOLENTOS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46,89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127,96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46,89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127,96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/>
          <p:nvPr/>
        </p:nvSpPr>
        <p:spPr>
          <a:xfrm>
            <a:off x="-1080" y="767880"/>
            <a:ext cx="1219284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REAÇÃO IMEDIATA (TRI)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/>
          <p:nvPr/>
        </p:nvSpPr>
        <p:spPr>
          <a:xfrm>
            <a:off x="2880" y="767880"/>
            <a:ext cx="121885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REPRESSÃO QUALIFICADA DA VIOLÊNCIA (RQV)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15"/>
          <p:cNvGraphicFramePr/>
          <p:nvPr/>
        </p:nvGraphicFramePr>
        <p:xfrm>
          <a:off x="515880" y="1320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712525"/>
                <a:gridCol w="1156675"/>
                <a:gridCol w="927350"/>
                <a:gridCol w="927350"/>
                <a:gridCol w="1132925"/>
                <a:gridCol w="939250"/>
                <a:gridCol w="939250"/>
                <a:gridCol w="1215350"/>
                <a:gridCol w="1491475"/>
                <a:gridCol w="717475"/>
              </a:tblGrid>
              <a:tr h="304200">
                <a:tc gridSpan="10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EFICIÊNCIA E EFICÁCIA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EFETIVIDADE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(Índice-RQV)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2739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IEfic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" name="Google Shape;157;p15"/>
          <p:cNvGraphicFramePr/>
          <p:nvPr/>
        </p:nvGraphicFramePr>
        <p:xfrm>
          <a:off x="515880" y="410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712525"/>
                <a:gridCol w="1156675"/>
                <a:gridCol w="927350"/>
                <a:gridCol w="927350"/>
                <a:gridCol w="1132925"/>
                <a:gridCol w="939250"/>
                <a:gridCol w="939250"/>
                <a:gridCol w="1215350"/>
                <a:gridCol w="1491475"/>
                <a:gridCol w="717475"/>
              </a:tblGrid>
              <a:tr h="304200">
                <a:tc gridSpan="10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EFICIÊNCIA E EFICÁCIA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REALIZADAS CONFORME CRITÉRIOS DE EFETIVIDADE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(Índice-RQV)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2739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IEfic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IEfe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/>
          <p:nvPr/>
        </p:nvSpPr>
        <p:spPr>
          <a:xfrm>
            <a:off x="2880" y="767880"/>
            <a:ext cx="121885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REPRESSÃO QUALIFICADA DA VIOLÊNCIA (RQV)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EFETIVIDADE NO CUMPRIMENTO DE DEMANDAS GERADAS VIA DDU (IDDU)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41960" y="6570000"/>
            <a:ext cx="1079460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Legenda: IDC = Índice de Denúncias Concluídas; IDCS = Índice de Denúncias Concluídas com Sucesso.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" name="Google Shape;170;p17"/>
          <p:cNvGraphicFramePr/>
          <p:nvPr/>
        </p:nvGraphicFramePr>
        <p:xfrm>
          <a:off x="232560" y="13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367275"/>
                <a:gridCol w="1015550"/>
                <a:gridCol w="1419125"/>
                <a:gridCol w="1206725"/>
                <a:gridCol w="645850"/>
                <a:gridCol w="1353250"/>
                <a:gridCol w="980275"/>
                <a:gridCol w="669250"/>
                <a:gridCol w="1015925"/>
                <a:gridCol w="1408675"/>
                <a:gridCol w="644750"/>
              </a:tblGrid>
              <a:tr h="284050">
                <a:tc gridSpan="1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 2021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RECEBIDAS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 COM SUCESSO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4057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(100)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80% (28)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36,11% (13)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30% (8) 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1" name="Google Shape;171;p17"/>
          <p:cNvGraphicFramePr/>
          <p:nvPr/>
        </p:nvGraphicFramePr>
        <p:xfrm>
          <a:off x="232560" y="4029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367275"/>
                <a:gridCol w="1015550"/>
                <a:gridCol w="1419125"/>
                <a:gridCol w="1206725"/>
                <a:gridCol w="645850"/>
                <a:gridCol w="1353250"/>
                <a:gridCol w="980275"/>
                <a:gridCol w="669250"/>
                <a:gridCol w="1015925"/>
                <a:gridCol w="1408675"/>
                <a:gridCol w="644750"/>
              </a:tblGrid>
              <a:tr h="284050">
                <a:tc gridSpan="1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6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RECEBIDAS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DENÚNCIAS CONCLUÍDAS COM SUCESSO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FINAL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(Índice)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</a:tr>
              <a:tr h="2923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(%)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IDCS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vMerge="1"/>
                <a:tc vMerge="1"/>
                <a:tc vMerge="1"/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(100)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80% (28)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36,11% (13)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30% (8) 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100,00%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2160" y="764280"/>
            <a:ext cx="1218960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 DE EFETIVIDADE NO CUMPRIMENTO DE DEMANDAS GERADAS VIA DDU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772560" y="2949840"/>
            <a:ext cx="1066968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 DE AÇÃO COMUNITÁRIA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 COMUNITÁRIA (IC)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915840" y="5955480"/>
            <a:ext cx="188892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BOS.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20"/>
          <p:cNvGraphicFramePr/>
          <p:nvPr/>
        </p:nvGraphicFramePr>
        <p:xfrm>
          <a:off x="365760" y="1561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450800"/>
                <a:gridCol w="1353250"/>
                <a:gridCol w="987475"/>
                <a:gridCol w="1881350"/>
                <a:gridCol w="763925"/>
                <a:gridCol w="1292050"/>
                <a:gridCol w="1011600"/>
                <a:gridCol w="1938250"/>
                <a:gridCol w="781550"/>
              </a:tblGrid>
              <a:tr h="340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</a:tr>
              <a:tr h="56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157,14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121,43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0" name="Google Shape;190;p20"/>
          <p:cNvGraphicFramePr/>
          <p:nvPr/>
        </p:nvGraphicFramePr>
        <p:xfrm>
          <a:off x="6505920" y="521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495875"/>
                <a:gridCol w="1398250"/>
                <a:gridCol w="55727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 COMUNITÁRIA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772560" y="2949840"/>
            <a:ext cx="1066968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INDICADOR DE AÇÃO DE TRÂNSITO URBANO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0" y="781560"/>
            <a:ext cx="121917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INDICADOR DE OPERAÇÃO LEI SECA (IOLS)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1283040" y="5938200"/>
            <a:ext cx="293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RAT.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8" name="Google Shape;208;p23"/>
          <p:cNvGraphicFramePr/>
          <p:nvPr/>
        </p:nvGraphicFramePr>
        <p:xfrm>
          <a:off x="6457320" y="53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495875"/>
                <a:gridCol w="1398250"/>
                <a:gridCol w="55727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23"/>
          <p:cNvGraphicFramePr/>
          <p:nvPr/>
        </p:nvGraphicFramePr>
        <p:xfrm>
          <a:off x="274320" y="1618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347125"/>
                <a:gridCol w="621725"/>
                <a:gridCol w="633950"/>
                <a:gridCol w="743400"/>
                <a:gridCol w="621725"/>
                <a:gridCol w="1883525"/>
                <a:gridCol w="755650"/>
                <a:gridCol w="560525"/>
                <a:gridCol w="645850"/>
                <a:gridCol w="664200"/>
                <a:gridCol w="694800"/>
                <a:gridCol w="1785950"/>
                <a:gridCol w="684725"/>
              </a:tblGrid>
              <a:tr h="340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56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TRCI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TRCI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IOLS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11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63,33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800" u="none" cap="none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0" y="781560"/>
            <a:ext cx="121917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REALIZAÇÃO DE OPERAÇÃO LEI SECA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772560" y="2949840"/>
            <a:ext cx="1066968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ÍNDICE DE POLICIAMENTO OSTENSIVO GERAL (POG)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INDICADOR DE POLICIAMENTO OSTENSIVO GERAL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26"/>
          <p:cNvGraphicFramePr/>
          <p:nvPr/>
        </p:nvGraphicFramePr>
        <p:xfrm>
          <a:off x="365760" y="1561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450800"/>
                <a:gridCol w="1353250"/>
                <a:gridCol w="987475"/>
                <a:gridCol w="1881350"/>
                <a:gridCol w="763925"/>
                <a:gridCol w="1292050"/>
                <a:gridCol w="1011600"/>
                <a:gridCol w="1938250"/>
                <a:gridCol w="781550"/>
              </a:tblGrid>
              <a:tr h="3402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FRAÇÃO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AGOSTO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2021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 2021 (JAN A </a:t>
                      </a:r>
                      <a:r>
                        <a:rPr b="1" lang="pt-BR" sz="16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AGO</a:t>
                      </a: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 hMerge="1"/>
                <a:tc hMerge="1"/>
                <a:tc hMerge="1"/>
              </a:tr>
              <a:tr h="5623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DESEMPENHO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(resultado/meta)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100,00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142ª Cia PM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6"/>
          <p:cNvGraphicFramePr/>
          <p:nvPr/>
        </p:nvGraphicFramePr>
        <p:xfrm>
          <a:off x="6457320" y="53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2495875"/>
                <a:gridCol w="1398250"/>
                <a:gridCol w="557275"/>
              </a:tblGrid>
              <a:tr h="244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NÍVEL DE DESEMPENHO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FAROL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≥ 70% e &lt; 100%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Requer atenção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😐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26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&lt; 70% da meta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Insatisfatório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☹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4275" marL="4427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6"/>
          <p:cNvSpPr/>
          <p:nvPr/>
        </p:nvSpPr>
        <p:spPr>
          <a:xfrm>
            <a:off x="1283040" y="5938200"/>
            <a:ext cx="2937960" cy="2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Fonte: RAT.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/>
          <p:nvPr/>
        </p:nvSpPr>
        <p:spPr>
          <a:xfrm>
            <a:off x="3362760" y="2542320"/>
            <a:ext cx="5213880" cy="15757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Apresentar análise que permita identificar as causas do desempenho insatisfatório (farol vermelho), quando isto ocorrer. 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0" y="76392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INDICADOR DE POLICIAMENTO OSTENSIVO GERAL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/>
          <p:nvPr/>
        </p:nvSpPr>
        <p:spPr>
          <a:xfrm>
            <a:off x="909720" y="2949840"/>
            <a:ext cx="10217160" cy="155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PLANOS DE AÇÃO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/>
          <p:nvPr/>
        </p:nvSpPr>
        <p:spPr>
          <a:xfrm>
            <a:off x="1523880" y="604080"/>
            <a:ext cx="943560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PLANO DE AÇÃO Nº 1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5" name="Google Shape;245;p29"/>
          <p:cNvGraphicFramePr/>
          <p:nvPr/>
        </p:nvGraphicFramePr>
        <p:xfrm>
          <a:off x="252360" y="1213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1454050"/>
                <a:gridCol w="1454050"/>
                <a:gridCol w="1454050"/>
                <a:gridCol w="1454050"/>
                <a:gridCol w="1454050"/>
                <a:gridCol w="1454050"/>
                <a:gridCol w="1454050"/>
                <a:gridCol w="1456200"/>
              </a:tblGrid>
              <a:tr h="35065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UNIDADE/FRAÇÃO: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PERÍODO DE EXECUÇÃO: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420125">
                <a:tc gridSpan="8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PROBLEMA: </a:t>
                      </a:r>
                      <a:r>
                        <a:rPr b="1" i="1" lang="pt-B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3350"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INDICADOR: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RESULTADO ESPERADO: </a:t>
                      </a:r>
                      <a:r>
                        <a:rPr b="1" i="1" lang="pt-B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(meta em termos quantitativos)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1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QUÊ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 QUÊ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QUEM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QUANDO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ONDE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QUANTO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SITUAÇÃO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68400" marL="6840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F0D9"/>
                    </a:solidFill>
                  </a:tcPr>
                </a:tc>
              </a:tr>
              <a:tr h="10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pt-BR" sz="12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(cumprida, parcialmente cumprida ou não cumprida)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2125" marL="421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29"/>
          <p:cNvSpPr/>
          <p:nvPr/>
        </p:nvSpPr>
        <p:spPr>
          <a:xfrm>
            <a:off x="3403080" y="3349080"/>
            <a:ext cx="5213880" cy="283356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/>
          <p:nvPr/>
        </p:nvSpPr>
        <p:spPr>
          <a:xfrm>
            <a:off x="0" y="837000"/>
            <a:ext cx="12191760" cy="45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RESUMO DOS INDICADORES – 23º BPM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30"/>
          <p:cNvGraphicFramePr/>
          <p:nvPr/>
        </p:nvGraphicFramePr>
        <p:xfrm>
          <a:off x="926640" y="1757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{64790E90-C01C-4117-A910-6CAE1C52912D}</a:tableStyleId>
              </a:tblPr>
              <a:tblGrid>
                <a:gridCol w="5899325"/>
                <a:gridCol w="2112125"/>
                <a:gridCol w="1704600"/>
              </a:tblGrid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MENSAL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ACUMULADO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TCV - TAXA DE CRIMES VIOLENTOS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THC - TAXA DE HOMICÍDIOS CONSUMADOS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TQF - TAXA QUALIFICADA DE FURTOS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IAF - ÍNDICE DE APREENSÃO DE ARMAS DE FOGO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 - TAXA DE REAÇÃO IMEDIATA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RQV – REPRESSÃO QUALIFICADA DA VIOLÊNCIA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ÍNDICE DE EFETIVIDADE NO CUMPRIMENTO DE DDU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IC – INTERAÇÃO COMUNITÁRIA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IOLS - INDICADOR DE OPERAÇÃO LEI SECA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OPERAÇÕES DO POG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☺</a:t>
                      </a:r>
                      <a:endParaRPr b="0"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/>
          <p:nvPr/>
        </p:nvSpPr>
        <p:spPr>
          <a:xfrm>
            <a:off x="1057320" y="277020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OBRIGADO!!!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425520" y="1265400"/>
            <a:ext cx="11324520" cy="313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31</vt:i4>
  </property>
</Properties>
</file>
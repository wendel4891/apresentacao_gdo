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ae3f3"/>
            </a:gs>
            <a:gs pos="100000">
              <a:srgbClr val="b4c7e7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32" descr=""/>
          <p:cNvPicPr/>
          <p:nvPr/>
        </p:nvPicPr>
        <p:blipFill>
          <a:blip r:embed="rId2"/>
          <a:stretch/>
        </p:blipFill>
        <p:spPr>
          <a:xfrm>
            <a:off x="108360" y="106200"/>
            <a:ext cx="1740600" cy="71028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7763400" y="23040"/>
            <a:ext cx="42022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Gestão do Desempenho Operacional – GDO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2222640" y="407880"/>
            <a:ext cx="9767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232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882720" y="1765440"/>
            <a:ext cx="1038564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333f4f"/>
                </a:solidFill>
                <a:latin typeface="Arial"/>
                <a:ea typeface="Arial"/>
              </a:rPr>
              <a:t>GESTÃO DO DESEMPENHO OPERACIONAL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70480" y="6197760"/>
            <a:ext cx="102135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44546a"/>
                </a:solidFill>
                <a:latin typeface="Arial"/>
                <a:ea typeface="Arial"/>
              </a:rPr>
              <a:t>Julho de 2021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93520" y="4235760"/>
            <a:ext cx="1038564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>
                <a:solidFill>
                  <a:srgbClr val="333f4f"/>
                </a:solidFill>
                <a:latin typeface="Arial"/>
                <a:ea typeface="Arial"/>
              </a:rPr>
              <a:t>23º BPM / 7ª RPM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14920" y="955080"/>
            <a:ext cx="10213560" cy="55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600" spc="-1" strike="noStrike">
                <a:solidFill>
                  <a:srgbClr val="44546a"/>
                </a:solidFill>
                <a:latin typeface="Arial"/>
                <a:ea typeface="Arial"/>
              </a:rPr>
              <a:t>AGENDA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  <a:p>
            <a:pPr marL="743040" indent="-739080" algn="just">
              <a:lnSpc>
                <a:spcPct val="100000"/>
              </a:lnSpc>
              <a:buClr>
                <a:srgbClr val="44546a"/>
              </a:buClr>
              <a:buFont typeface="Noto Sans Symbols"/>
              <a:buAutoNum type="arabicPeriod"/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Avaliação e análise de Resultados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1.1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Finalísticos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1.2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1.3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1.4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Trânsito Urbano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1.5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Estaduais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1.6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Índice de POG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2.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98560" y="2949840"/>
            <a:ext cx="1054008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FINALÍSTICOS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3"/>
          <p:cNvGraphicFramePr/>
          <p:nvPr/>
        </p:nvGraphicFramePr>
        <p:xfrm>
          <a:off x="248040" y="14108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70320"/>
                <a:gridCol w="743400"/>
                <a:gridCol w="1023840"/>
                <a:gridCol w="731520"/>
                <a:gridCol w="60048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CustomShape 4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1" name="Table 2"/>
          <p:cNvGraphicFramePr/>
          <p:nvPr/>
        </p:nvGraphicFramePr>
        <p:xfrm>
          <a:off x="252000" y="14774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" name="CustomShape 3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3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6" name="Table 3"/>
          <p:cNvGraphicFramePr/>
          <p:nvPr/>
        </p:nvGraphicFramePr>
        <p:xfrm>
          <a:off x="252000" y="14774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693720" y="2670480"/>
            <a:ext cx="1074492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15480" y="777600"/>
            <a:ext cx="12172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 (IAF)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0" name="Table 2"/>
          <p:cNvGraphicFramePr/>
          <p:nvPr/>
        </p:nvGraphicFramePr>
        <p:xfrm>
          <a:off x="252000" y="1477440"/>
          <a:ext cx="11626920" cy="3410640"/>
        </p:xfrm>
        <a:graphic>
          <a:graphicData uri="http://schemas.openxmlformats.org/drawingml/2006/table">
            <a:tbl>
              <a:tblPr/>
              <a:tblGrid>
                <a:gridCol w="1552320"/>
                <a:gridCol w="1353240"/>
                <a:gridCol w="938520"/>
                <a:gridCol w="1791720"/>
                <a:gridCol w="718920"/>
                <a:gridCol w="1490400"/>
                <a:gridCol w="984240"/>
                <a:gridCol w="1864800"/>
                <a:gridCol w="9331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11329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3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2" name="CustomShape 4"/>
          <p:cNvSpPr/>
          <p:nvPr/>
        </p:nvSpPr>
        <p:spPr>
          <a:xfrm>
            <a:off x="556920" y="5843880"/>
            <a:ext cx="536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15480" y="777600"/>
            <a:ext cx="12172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AOS CRIMES VIOLENTOS (TRI)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4" name="Table 2"/>
          <p:cNvGraphicFramePr/>
          <p:nvPr/>
        </p:nvGraphicFramePr>
        <p:xfrm>
          <a:off x="5925240" y="5459040"/>
          <a:ext cx="5211360" cy="18018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814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5" name="CustomShape 3"/>
          <p:cNvSpPr/>
          <p:nvPr/>
        </p:nvSpPr>
        <p:spPr>
          <a:xfrm>
            <a:off x="556920" y="5843880"/>
            <a:ext cx="536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66" name="Table 4"/>
          <p:cNvGraphicFramePr/>
          <p:nvPr/>
        </p:nvGraphicFramePr>
        <p:xfrm>
          <a:off x="134280" y="1477440"/>
          <a:ext cx="11910600" cy="4443840"/>
        </p:xfrm>
        <a:graphic>
          <a:graphicData uri="http://schemas.openxmlformats.org/drawingml/2006/table">
            <a:tbl>
              <a:tblPr/>
              <a:tblGrid>
                <a:gridCol w="1108800"/>
                <a:gridCol w="1085040"/>
                <a:gridCol w="1060200"/>
                <a:gridCol w="670320"/>
                <a:gridCol w="645840"/>
                <a:gridCol w="1182600"/>
                <a:gridCol w="645840"/>
                <a:gridCol w="1108800"/>
                <a:gridCol w="950400"/>
                <a:gridCol w="694800"/>
                <a:gridCol w="864720"/>
                <a:gridCol w="1222200"/>
                <a:gridCol w="6714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10033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2880" y="767880"/>
            <a:ext cx="12184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8" name="Table 2"/>
          <p:cNvGraphicFramePr/>
          <p:nvPr/>
        </p:nvGraphicFramePr>
        <p:xfrm>
          <a:off x="515880" y="132084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 3"/>
          <p:cNvGraphicFramePr/>
          <p:nvPr/>
        </p:nvGraphicFramePr>
        <p:xfrm>
          <a:off x="515880" y="410652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2160" y="764280"/>
            <a:ext cx="1218600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 (IDDU)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41960" y="6570000"/>
            <a:ext cx="1079100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IDC = Índice de Denúncias Concluídas; IDCS = Índice de Denúncias Concluídas com Sucesso.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2" name="Table 3"/>
          <p:cNvGraphicFramePr/>
          <p:nvPr/>
        </p:nvGraphicFramePr>
        <p:xfrm>
          <a:off x="232560" y="138060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 4"/>
          <p:cNvGraphicFramePr/>
          <p:nvPr/>
        </p:nvGraphicFramePr>
        <p:xfrm>
          <a:off x="232560" y="402948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772560" y="2949840"/>
            <a:ext cx="1066608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76392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(IC)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915840" y="5955480"/>
            <a:ext cx="18853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BOS.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365760" y="1561320"/>
          <a:ext cx="11459520" cy="31503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157,14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121,43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8" name="Table 4"/>
          <p:cNvGraphicFramePr/>
          <p:nvPr/>
        </p:nvGraphicFramePr>
        <p:xfrm>
          <a:off x="6505920" y="521748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772560" y="2949840"/>
            <a:ext cx="1066608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DE TRÂNSITO URBANO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781560"/>
            <a:ext cx="12188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OPERAÇÃO LEI SECA (IOLS)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283040" y="5938200"/>
            <a:ext cx="293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4"/>
          <p:cNvGraphicFramePr/>
          <p:nvPr/>
        </p:nvGraphicFramePr>
        <p:xfrm>
          <a:off x="274320" y="1618560"/>
          <a:ext cx="11642400" cy="3017880"/>
        </p:xfrm>
        <a:graphic>
          <a:graphicData uri="http://schemas.openxmlformats.org/drawingml/2006/table">
            <a:tbl>
              <a:tblPr/>
              <a:tblGrid>
                <a:gridCol w="1347120"/>
                <a:gridCol w="621720"/>
                <a:gridCol w="633600"/>
                <a:gridCol w="743400"/>
                <a:gridCol w="621720"/>
                <a:gridCol w="1883520"/>
                <a:gridCol w="755640"/>
                <a:gridCol w="560520"/>
                <a:gridCol w="645840"/>
                <a:gridCol w="664200"/>
                <a:gridCol w="694800"/>
                <a:gridCol w="1785600"/>
                <a:gridCol w="68508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772560" y="2949840"/>
            <a:ext cx="1066608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ÍNDICE DE POLICIAMENTO OSTENSIVO GERAL (POG)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76392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86" name="Table 2"/>
          <p:cNvGraphicFramePr/>
          <p:nvPr/>
        </p:nvGraphicFramePr>
        <p:xfrm>
          <a:off x="365760" y="1561320"/>
          <a:ext cx="11459520" cy="29847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QTD OP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QTD OP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8" name="CustomShape 4"/>
          <p:cNvSpPr/>
          <p:nvPr/>
        </p:nvSpPr>
        <p:spPr>
          <a:xfrm>
            <a:off x="1283040" y="5938200"/>
            <a:ext cx="293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909720" y="2949840"/>
            <a:ext cx="102135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523880" y="604080"/>
            <a:ext cx="94320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Arial"/>
              </a:rPr>
              <a:t>PLANO DE AÇÃO Nº 1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91" name="Table 2"/>
          <p:cNvGraphicFramePr/>
          <p:nvPr/>
        </p:nvGraphicFramePr>
        <p:xfrm>
          <a:off x="252360" y="1213920"/>
          <a:ext cx="11634120" cy="5419440"/>
        </p:xfrm>
        <a:graphic>
          <a:graphicData uri="http://schemas.openxmlformats.org/drawingml/2006/table">
            <a:tbl>
              <a:tblPr/>
              <a:tblGrid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6200"/>
              </a:tblGrid>
              <a:tr h="34452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UNIDADE/FRAÇÃO: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PERÍODO DE EXECUÇÃO: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11560">
                <a:tc gridSpan="8">
                  <a:txBody>
                    <a:bodyPr lIns="42120" rIns="42120">
                      <a:noAutofit/>
                    </a:bodyPr>
                    <a:p>
                      <a:pPr algn="just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2724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ESPERADO: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(meta em termos quantitativos)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0924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QUANDO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QUANTO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SITUAÇÃO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990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2120" rIns="4212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(cumprida, parcialmente cumprida ou não cumprida)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18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CustomShape 3"/>
          <p:cNvSpPr/>
          <p:nvPr/>
        </p:nvSpPr>
        <p:spPr>
          <a:xfrm>
            <a:off x="3403080" y="3349080"/>
            <a:ext cx="5210280" cy="28328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83700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RESUMO DOS INDICADORES – 23º BPM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94" name="Table 2"/>
          <p:cNvGraphicFramePr/>
          <p:nvPr/>
        </p:nvGraphicFramePr>
        <p:xfrm>
          <a:off x="926640" y="1757160"/>
          <a:ext cx="9715680" cy="4139280"/>
        </p:xfrm>
        <a:graphic>
          <a:graphicData uri="http://schemas.openxmlformats.org/drawingml/2006/table">
            <a:tbl>
              <a:tblPr/>
              <a:tblGrid>
                <a:gridCol w="5899320"/>
                <a:gridCol w="2112120"/>
                <a:gridCol w="1704600"/>
              </a:tblGrid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INDICADORES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MENSAL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 - TAXA DE CRIMES VIOLENTOS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 - TAXA DE HOMICÍDIOS CONSUMADOS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 - TAXA QUALIFICADA DE FURTOS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IAF - ÍNDICE DE APREENSÃO DE ARMAS DE FOGO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 - TAXA DE REAÇÃO IMEDIATA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RQV – REPRESSÃO QUALIFICADA DA VIOLÊNCIA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ÍNDICE DE EFETIVIDADE NO CUMPRIMENTO DE DDU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 – INTERAÇÃO COMUNITÁRIA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 - INDICADOR DE OPERAÇÃO LEI SECA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7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DO POG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057320" y="2770200"/>
            <a:ext cx="10511640" cy="132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000000"/>
                </a:solidFill>
                <a:latin typeface="Arial"/>
                <a:ea typeface="Arial"/>
              </a:rPr>
              <a:t>OBRIGADO!!!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425520" y="1265400"/>
            <a:ext cx="11320920" cy="313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  <dc:description/>
  <dc:language>en-US</dc:language>
  <cp:lastModifiedBy/>
  <dcterms:modified xsi:type="dcterms:W3CDTF">2021-09-02T23:25:22Z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31</vt:i4>
  </property>
</Properties>
</file>
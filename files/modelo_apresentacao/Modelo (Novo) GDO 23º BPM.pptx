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dae3f3"/>
            </a:gs>
            <a:gs pos="100000">
              <a:srgbClr val="b4c7e7"/>
            </a:gs>
          </a:gsLst>
          <a:lin ang="162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6;p32" descr=""/>
          <p:cNvPicPr/>
          <p:nvPr/>
        </p:nvPicPr>
        <p:blipFill>
          <a:blip r:embed="rId2"/>
          <a:stretch/>
        </p:blipFill>
        <p:spPr>
          <a:xfrm>
            <a:off x="108360" y="106200"/>
            <a:ext cx="1740600" cy="710280"/>
          </a:xfrm>
          <a:prstGeom prst="rect">
            <a:avLst/>
          </a:prstGeom>
          <a:ln>
            <a:noFill/>
          </a:ln>
        </p:spPr>
      </p:pic>
      <p:sp>
        <p:nvSpPr>
          <p:cNvPr id="1" name="CustomShape 1"/>
          <p:cNvSpPr/>
          <p:nvPr/>
        </p:nvSpPr>
        <p:spPr>
          <a:xfrm>
            <a:off x="7763400" y="23040"/>
            <a:ext cx="4202280" cy="638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pt-BR" sz="1800" spc="-1" strike="noStrike">
                <a:solidFill>
                  <a:srgbClr val="000000"/>
                </a:solidFill>
                <a:latin typeface="Arial"/>
                <a:ea typeface="Arial"/>
              </a:rPr>
              <a:t>Gestão do Desempenho Operacional – GDO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" name="CustomShape 2"/>
          <p:cNvSpPr/>
          <p:nvPr/>
        </p:nvSpPr>
        <p:spPr>
          <a:xfrm>
            <a:off x="2222640" y="407880"/>
            <a:ext cx="976788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22320">
            <a:solidFill>
              <a:srgbClr val="00206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PlaceHolder 3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882720" y="1765440"/>
            <a:ext cx="10385640" cy="1918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333f4f"/>
                </a:solidFill>
                <a:latin typeface="Arial"/>
                <a:ea typeface="Arial"/>
              </a:rPr>
              <a:t>GESTÃO DO DESEMPENHO OPERACIONAL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870480" y="6197760"/>
            <a:ext cx="102135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44546a"/>
                </a:solidFill>
                <a:latin typeface="Arial"/>
                <a:ea typeface="Arial"/>
              </a:rPr>
              <a:t>Mês de Ano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93520" y="4235760"/>
            <a:ext cx="10385640" cy="759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400" spc="-1" strike="noStrike">
                <a:solidFill>
                  <a:srgbClr val="333f4f"/>
                </a:solidFill>
                <a:latin typeface="Arial"/>
                <a:ea typeface="Arial"/>
              </a:rPr>
              <a:t>23º BPM / 7ª RPM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1114920" y="955080"/>
            <a:ext cx="10213560" cy="557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3600" spc="-1" strike="noStrike">
                <a:solidFill>
                  <a:srgbClr val="44546a"/>
                </a:solidFill>
                <a:latin typeface="Arial"/>
                <a:ea typeface="Arial"/>
              </a:rPr>
              <a:t>AGENDA</a:t>
            </a:r>
            <a:endParaRPr b="0" lang="en-US" sz="36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latin typeface="Arial"/>
            </a:endParaRPr>
          </a:p>
          <a:p>
            <a:pPr marL="743040" indent="-739080" algn="just">
              <a:lnSpc>
                <a:spcPct val="100000"/>
              </a:lnSpc>
              <a:buClr>
                <a:srgbClr val="44546a"/>
              </a:buClr>
              <a:buFont typeface="Noto Sans Symbols"/>
              <a:buAutoNum type="arabicPeriod"/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Avaliação e análise de Resultados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1.1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Finalísticos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1.2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1.3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1.4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 de Trânsito Urbano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1.5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Estaduais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1.6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0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Índice de POG</a:t>
            </a: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just">
              <a:lnSpc>
                <a:spcPct val="100000"/>
              </a:lnSpc>
              <a:tabLst>
                <a:tab algn="l" pos="0"/>
              </a:tabLst>
            </a:pP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2.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	</a:t>
            </a:r>
            <a:r>
              <a:rPr b="1" lang="pt-BR" sz="32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CustomShape 1"/>
          <p:cNvSpPr/>
          <p:nvPr/>
        </p:nvSpPr>
        <p:spPr>
          <a:xfrm>
            <a:off x="898560" y="2949840"/>
            <a:ext cx="10540080" cy="82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FINALÍSTICOS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CRIMES VIOLENTOS (TCV)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47" name="Table 2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3"/>
          <p:cNvGraphicFramePr/>
          <p:nvPr/>
        </p:nvGraphicFramePr>
        <p:xfrm>
          <a:off x="248040" y="14108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70320"/>
                <a:gridCol w="743400"/>
                <a:gridCol w="1023840"/>
                <a:gridCol w="731520"/>
                <a:gridCol w="60048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CustomShape 4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HOMICÍDIOS CONSUMADOS (THC)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51" name="Table 2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HOMICÍDIOS CONS.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2" name="CustomShape 3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3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CustomShape 1"/>
          <p:cNvSpPr/>
          <p:nvPr/>
        </p:nvSpPr>
        <p:spPr>
          <a:xfrm>
            <a:off x="-2160" y="777600"/>
            <a:ext cx="12190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QUALIFICADA DE FURTOS (TQF)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CustomShape 2"/>
          <p:cNvSpPr/>
          <p:nvPr/>
        </p:nvSpPr>
        <p:spPr>
          <a:xfrm>
            <a:off x="556920" y="5843880"/>
            <a:ext cx="5364360" cy="45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PLP = Percentual Limite de Pontuação.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56" name="Table 3"/>
          <p:cNvGraphicFramePr/>
          <p:nvPr/>
        </p:nvGraphicFramePr>
        <p:xfrm>
          <a:off x="252000" y="1477440"/>
          <a:ext cx="11694960" cy="3863880"/>
        </p:xfrm>
        <a:graphic>
          <a:graphicData uri="http://schemas.openxmlformats.org/drawingml/2006/table">
            <a:tbl>
              <a:tblPr/>
              <a:tblGrid>
                <a:gridCol w="1210320"/>
                <a:gridCol w="1048320"/>
                <a:gridCol w="914400"/>
                <a:gridCol w="755640"/>
                <a:gridCol w="718920"/>
                <a:gridCol w="987120"/>
                <a:gridCol w="731520"/>
                <a:gridCol w="657720"/>
                <a:gridCol w="901800"/>
                <a:gridCol w="682200"/>
                <a:gridCol w="718920"/>
                <a:gridCol w="1035720"/>
                <a:gridCol w="731520"/>
                <a:gridCol w="6012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POPULAÇÃO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VAR %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(em relação à 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PLP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683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FURTOS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50.000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- 9,09%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7" name="Table 4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ustomShape 1"/>
          <p:cNvSpPr/>
          <p:nvPr/>
        </p:nvSpPr>
        <p:spPr>
          <a:xfrm>
            <a:off x="693720" y="2670480"/>
            <a:ext cx="1074492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INDICADORES DE AÇÕES QUALIFICADAS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APREENSÃO DE ARMAS DE FOGO (IAF)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0" name="Table 2"/>
          <p:cNvGraphicFramePr/>
          <p:nvPr/>
        </p:nvGraphicFramePr>
        <p:xfrm>
          <a:off x="252000" y="1477440"/>
          <a:ext cx="11626920" cy="3410640"/>
        </p:xfrm>
        <a:graphic>
          <a:graphicData uri="http://schemas.openxmlformats.org/drawingml/2006/table">
            <a:tbl>
              <a:tblPr/>
              <a:tblGrid>
                <a:gridCol w="1552320"/>
                <a:gridCol w="1353240"/>
                <a:gridCol w="938520"/>
                <a:gridCol w="1791720"/>
                <a:gridCol w="718920"/>
                <a:gridCol w="1490400"/>
                <a:gridCol w="984240"/>
                <a:gridCol w="1864800"/>
                <a:gridCol w="9331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11329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ARMAS COM CONDUZIDOS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66,67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e00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1" name="Table 3"/>
          <p:cNvGraphicFramePr/>
          <p:nvPr/>
        </p:nvGraphicFramePr>
        <p:xfrm>
          <a:off x="5925240" y="5459040"/>
          <a:ext cx="5211360" cy="15570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≤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&gt; 100% e &lt; 110%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110%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2" name="CustomShape 4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15480" y="777600"/>
            <a:ext cx="1217232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TAXA DE REAÇÃO IMEDIATA AOS CRIMES VIOLENTOS (TRI)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4" name="Table 2"/>
          <p:cNvGraphicFramePr/>
          <p:nvPr/>
        </p:nvGraphicFramePr>
        <p:xfrm>
          <a:off x="5925240" y="5459040"/>
          <a:ext cx="5211360" cy="1801800"/>
        </p:xfrm>
        <a:graphic>
          <a:graphicData uri="http://schemas.openxmlformats.org/drawingml/2006/table">
            <a:tbl>
              <a:tblPr/>
              <a:tblGrid>
                <a:gridCol w="2842560"/>
                <a:gridCol w="1693800"/>
                <a:gridCol w="675360"/>
              </a:tblGrid>
              <a:tr h="5475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814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3660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4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65" name="CustomShape 3"/>
          <p:cNvSpPr/>
          <p:nvPr/>
        </p:nvSpPr>
        <p:spPr>
          <a:xfrm>
            <a:off x="556920" y="5843880"/>
            <a:ext cx="536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Armazém de Dados / REDS.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66" name="Table 4"/>
          <p:cNvGraphicFramePr/>
          <p:nvPr/>
        </p:nvGraphicFramePr>
        <p:xfrm>
          <a:off x="134280" y="1477440"/>
          <a:ext cx="11910600" cy="4443840"/>
        </p:xfrm>
        <a:graphic>
          <a:graphicData uri="http://schemas.openxmlformats.org/drawingml/2006/table">
            <a:tbl>
              <a:tblPr/>
              <a:tblGrid>
                <a:gridCol w="1108800"/>
                <a:gridCol w="1085040"/>
                <a:gridCol w="1060200"/>
                <a:gridCol w="670320"/>
                <a:gridCol w="645840"/>
                <a:gridCol w="1182600"/>
                <a:gridCol w="645840"/>
                <a:gridCol w="1108800"/>
                <a:gridCol w="950400"/>
                <a:gridCol w="694800"/>
                <a:gridCol w="864720"/>
                <a:gridCol w="1222200"/>
                <a:gridCol w="671400"/>
              </a:tblGrid>
              <a:tr h="319680">
                <a:tc row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1968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 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100332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AUTORES DE CV PRESOS / APREEND.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CRIMES VIOLENTOS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46,89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127,96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6123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2880" y="767880"/>
            <a:ext cx="1218492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REPRESSÃO QUALIFICADA DA VIOLÊNCIA (RQV)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68" name="Table 2"/>
          <p:cNvGraphicFramePr/>
          <p:nvPr/>
        </p:nvGraphicFramePr>
        <p:xfrm>
          <a:off x="515880" y="132084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9" name="Table 3"/>
          <p:cNvGraphicFramePr/>
          <p:nvPr/>
        </p:nvGraphicFramePr>
        <p:xfrm>
          <a:off x="515880" y="4106520"/>
          <a:ext cx="11158920" cy="3468600"/>
        </p:xfrm>
        <a:graphic>
          <a:graphicData uri="http://schemas.openxmlformats.org/drawingml/2006/table">
            <a:tbl>
              <a:tblPr/>
              <a:tblGrid>
                <a:gridCol w="1712520"/>
                <a:gridCol w="1156320"/>
                <a:gridCol w="927000"/>
                <a:gridCol w="927000"/>
                <a:gridCol w="1132920"/>
                <a:gridCol w="939240"/>
                <a:gridCol w="939240"/>
                <a:gridCol w="1215000"/>
                <a:gridCol w="1491120"/>
                <a:gridCol w="718920"/>
              </a:tblGrid>
              <a:tr h="319680">
                <a:tc gridSpan="10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77544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EFICIÊNCIA E EFICÁCIA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REALIZADAS CONFORME CRITÉRIOS DE EFETIVIDADE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(Índice-RQV)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IEfic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IEfe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41796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2,00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CustomShape 1"/>
          <p:cNvSpPr/>
          <p:nvPr/>
        </p:nvSpPr>
        <p:spPr>
          <a:xfrm>
            <a:off x="2160" y="764280"/>
            <a:ext cx="12186000" cy="82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ÍNDICE DE EFETIVIDADE NO CUMPRIMENTO DE DEMANDAS GERADAS VIA DDU (IDDU)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1" name="CustomShape 2"/>
          <p:cNvSpPr/>
          <p:nvPr/>
        </p:nvSpPr>
        <p:spPr>
          <a:xfrm>
            <a:off x="741960" y="6570000"/>
            <a:ext cx="1079100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Legenda: IDC = Índice de Denúncias Concluídas; IDCS = Índice de Denúncias Concluídas com Sucesso.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2" name="Table 3"/>
          <p:cNvGraphicFramePr/>
          <p:nvPr/>
        </p:nvGraphicFramePr>
        <p:xfrm>
          <a:off x="232560" y="138060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MÊS ANO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3" name="Table 4"/>
          <p:cNvGraphicFramePr/>
          <p:nvPr/>
        </p:nvGraphicFramePr>
        <p:xfrm>
          <a:off x="232560" y="4029480"/>
          <a:ext cx="11725920" cy="3174840"/>
        </p:xfrm>
        <a:graphic>
          <a:graphicData uri="http://schemas.openxmlformats.org/drawingml/2006/table">
            <a:tbl>
              <a:tblPr/>
              <a:tblGrid>
                <a:gridCol w="1366920"/>
                <a:gridCol w="1015200"/>
                <a:gridCol w="1419120"/>
                <a:gridCol w="1206720"/>
                <a:gridCol w="645840"/>
                <a:gridCol w="1353240"/>
                <a:gridCol w="979920"/>
                <a:gridCol w="669240"/>
                <a:gridCol w="1015920"/>
                <a:gridCol w="1408320"/>
                <a:gridCol w="645840"/>
              </a:tblGrid>
              <a:tr h="319680">
                <a:tc gridSpan="11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4756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RECEBIDAS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3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DENÚNCIAS CONCLUÍDAS COM SUCESSO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FINAL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(Índice)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4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</a:tr>
              <a:tr h="54756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 (%)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IDCS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  <a:tc vMerge="1">
                  <a:tcPr marL="90000" marR="90000">
                    <a:solidFill>
                      <a:srgbClr val="729fcf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100% (100)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80% (28)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36,11% (13)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30% (8) 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100,00%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772560" y="2949840"/>
            <a:ext cx="10666080" cy="228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COMUNITÁRIA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INTERAÇÃO COMUNITÁRIA (IC)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6" name="CustomShape 2"/>
          <p:cNvSpPr/>
          <p:nvPr/>
        </p:nvSpPr>
        <p:spPr>
          <a:xfrm>
            <a:off x="915840" y="5955480"/>
            <a:ext cx="188532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BOS.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365760" y="1561320"/>
          <a:ext cx="11459520" cy="31503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157,14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51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42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121,43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8" name="Table 4"/>
          <p:cNvGraphicFramePr/>
          <p:nvPr/>
        </p:nvGraphicFramePr>
        <p:xfrm>
          <a:off x="6505920" y="521748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INDICADOR DE AÇÃO DE TRÂNSITO URBANO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0" y="781560"/>
            <a:ext cx="12188160" cy="455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OPERAÇÃO LEI SECA (IOLS)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" name="Table 4"/>
          <p:cNvGraphicFramePr/>
          <p:nvPr/>
        </p:nvGraphicFramePr>
        <p:xfrm>
          <a:off x="274320" y="1618560"/>
          <a:ext cx="11642400" cy="3017880"/>
        </p:xfrm>
        <a:graphic>
          <a:graphicData uri="http://schemas.openxmlformats.org/drawingml/2006/table">
            <a:tbl>
              <a:tblPr/>
              <a:tblGrid>
                <a:gridCol w="1347120"/>
                <a:gridCol w="621720"/>
                <a:gridCol w="633600"/>
                <a:gridCol w="743400"/>
                <a:gridCol w="621720"/>
                <a:gridCol w="1883520"/>
                <a:gridCol w="755640"/>
                <a:gridCol w="560520"/>
                <a:gridCol w="645840"/>
                <a:gridCol w="664200"/>
                <a:gridCol w="694800"/>
                <a:gridCol w="1785600"/>
                <a:gridCol w="68508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6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TRCI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8520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19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63,33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800" spc="-1" strike="noStrike">
                          <a:solidFill>
                            <a:srgbClr val="ff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772560" y="2949840"/>
            <a:ext cx="1066608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ÍNDICE DE POLICIAMENTO OSTENSIVO GERAL (POG)</a:t>
            </a: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0" y="76392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INDICADOR DE POLICIAMENTO OSTENSIVO GERAL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86" name="Table 2"/>
          <p:cNvGraphicFramePr/>
          <p:nvPr/>
        </p:nvGraphicFramePr>
        <p:xfrm>
          <a:off x="365760" y="1561320"/>
          <a:ext cx="11459520" cy="2984760"/>
        </p:xfrm>
        <a:graphic>
          <a:graphicData uri="http://schemas.openxmlformats.org/drawingml/2006/table">
            <a:tbl>
              <a:tblPr/>
              <a:tblGrid>
                <a:gridCol w="1450800"/>
                <a:gridCol w="1353240"/>
                <a:gridCol w="987120"/>
                <a:gridCol w="1881000"/>
                <a:gridCol w="763920"/>
                <a:gridCol w="1292040"/>
                <a:gridCol w="1011600"/>
                <a:gridCol w="1938240"/>
                <a:gridCol w="781920"/>
              </a:tblGrid>
              <a:tr h="352080">
                <a:tc rowSpan="2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FRAÇÃO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solidFill>
                      <a:srgbClr val="e2f0d9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latin typeface="Arial"/>
                          <a:ea typeface="Arial"/>
                        </a:rPr>
                        <a:t>MÊS ANO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 ANO (JAN A MÊS)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872640">
                <a:tc vMerge="1">
                  <a:tcPr marL="90000" marR="90000">
                    <a:solidFill>
                      <a:srgbClr val="729fcf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QTD OP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META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% DE DESEMPENHO</a:t>
                      </a:r>
                      <a:endParaRPr b="0" lang="en-US" sz="1600" spc="-1" strike="noStrike">
                        <a:latin typeface="Arial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(resultado/meta)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51ª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 </a:t>
                      </a: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100,00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139ª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142ª Cia PM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5208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6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TOTAL</a:t>
                      </a:r>
                      <a:endParaRPr b="0" lang="en-US" sz="16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7" name="Table 3"/>
          <p:cNvGraphicFramePr/>
          <p:nvPr/>
        </p:nvGraphicFramePr>
        <p:xfrm>
          <a:off x="6457320" y="5351760"/>
          <a:ext cx="4450680" cy="1829160"/>
        </p:xfrm>
        <a:graphic>
          <a:graphicData uri="http://schemas.openxmlformats.org/drawingml/2006/table">
            <a:tbl>
              <a:tblPr/>
              <a:tblGrid>
                <a:gridCol w="2495520"/>
                <a:gridCol w="1398240"/>
                <a:gridCol w="557280"/>
              </a:tblGrid>
              <a:tr h="482040"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NÍVEL DE DESEMPENHO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STATUS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FAROL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5115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≥ 70% e &lt; 100%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Requer atenção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😐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ff00"/>
                    </a:solidFill>
                  </a:tcPr>
                </a:tc>
              </a:tr>
              <a:tr h="41796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&lt; 70% da meta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0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Insatisfatório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3920" rIns="43920">
                      <a:noAutofit/>
                    </a:bodyPr>
                    <a:p>
                      <a:pPr algn="ctr">
                        <a:lnSpc>
                          <a:spcPct val="107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ffffff"/>
                          </a:solidFill>
                          <a:latin typeface="Noto Sans Symbols"/>
                          <a:ea typeface="Noto Sans Symbols"/>
                        </a:rPr>
                        <a:t>☹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43920" marR="439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8" name="CustomShape 4"/>
          <p:cNvSpPr/>
          <p:nvPr/>
        </p:nvSpPr>
        <p:spPr>
          <a:xfrm>
            <a:off x="1283040" y="5938200"/>
            <a:ext cx="2934360" cy="272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pt-BR" sz="1200" spc="-1" strike="noStrike">
                <a:solidFill>
                  <a:srgbClr val="000000"/>
                </a:solidFill>
                <a:latin typeface="Arial"/>
                <a:ea typeface="Arial"/>
              </a:rPr>
              <a:t>Fonte: RAT.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CustomShape 1"/>
          <p:cNvSpPr/>
          <p:nvPr/>
        </p:nvSpPr>
        <p:spPr>
          <a:xfrm>
            <a:off x="909720" y="2949840"/>
            <a:ext cx="10213560" cy="1551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4800" spc="-1" strike="noStrike">
                <a:solidFill>
                  <a:srgbClr val="44546a"/>
                </a:solidFill>
                <a:latin typeface="Arial"/>
                <a:ea typeface="Arial"/>
              </a:rPr>
              <a:t>PLANOS DE AÇÃO</a:t>
            </a:r>
            <a:endParaRPr b="0" lang="en-US" sz="4800" spc="-1" strike="noStrike"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1523880" y="604080"/>
            <a:ext cx="9432000" cy="394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000" spc="-1" strike="noStrike">
                <a:solidFill>
                  <a:srgbClr val="000000"/>
                </a:solidFill>
                <a:latin typeface="Arial"/>
                <a:ea typeface="Arial"/>
              </a:rPr>
              <a:t>PLANO DE AÇÃO Nº 1</a:t>
            </a:r>
            <a:endParaRPr b="0" lang="en-US" sz="2000" spc="-1" strike="noStrike">
              <a:latin typeface="Arial"/>
            </a:endParaRPr>
          </a:p>
        </p:txBody>
      </p:sp>
      <p:graphicFrame>
        <p:nvGraphicFramePr>
          <p:cNvPr id="91" name="Table 2"/>
          <p:cNvGraphicFramePr/>
          <p:nvPr/>
        </p:nvGraphicFramePr>
        <p:xfrm>
          <a:off x="252360" y="1213920"/>
          <a:ext cx="11634120" cy="5419440"/>
        </p:xfrm>
        <a:graphic>
          <a:graphicData uri="http://schemas.openxmlformats.org/drawingml/2006/table">
            <a:tbl>
              <a:tblPr/>
              <a:tblGrid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4040"/>
                <a:gridCol w="1456200"/>
              </a:tblGrid>
              <a:tr h="34452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UNIDADE/FRAÇÃO: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PERÍODO DE EXECUÇÃO: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511560">
                <a:tc gridSpan="8">
                  <a:txBody>
                    <a:bodyPr lIns="42120" rIns="42120">
                      <a:noAutofit/>
                    </a:bodyPr>
                    <a:p>
                      <a:pPr algn="just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PROBLEMA: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(Descrever sucintamente o problema relacionado ao indicador, caracterizando-o geográfica e temporalmente. Ex.: Aumento de 25% no índice de crimes violentos na subárea X, no período de ...)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27240"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INDICADOR: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gridSpan="4">
                  <a:txBody>
                    <a:bodyPr lIns="42120" rIns="42120">
                      <a:noAutofit/>
                    </a:bodyPr>
                    <a:p>
                      <a:pPr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RESULTADO ESPERADO: </a:t>
                      </a: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(meta em termos quantitativos)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cPr marL="90000" marR="90000">
                    <a:solidFill>
                      <a:srgbClr val="729fcf"/>
                    </a:solidFill>
                  </a:tcPr>
                </a:tc>
              </a:tr>
              <a:tr h="309240"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 QUÊ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QUEM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QUANDO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ONDE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COMO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QUANTO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 lIns="68400" rIns="6840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pt-BR" sz="12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SITUAÇÃO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68400" marR="6840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990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42120" rIns="42120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i="1" lang="pt-BR" sz="1200" spc="-1" strike="noStrike">
                          <a:solidFill>
                            <a:srgbClr val="ff0000"/>
                          </a:solidFill>
                          <a:latin typeface="Arial"/>
                          <a:ea typeface="Arial"/>
                        </a:rPr>
                        <a:t>(cumprida, parcialmente cumprida ou não cumprida)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42120" marR="4212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00908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918360"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cPr marL="91080" marR="9108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CustomShape 3"/>
          <p:cNvSpPr/>
          <p:nvPr/>
        </p:nvSpPr>
        <p:spPr>
          <a:xfrm>
            <a:off x="3403080" y="3349080"/>
            <a:ext cx="5210280" cy="2832840"/>
          </a:xfrm>
          <a:prstGeom prst="rect">
            <a:avLst/>
          </a:prstGeom>
          <a:solidFill>
            <a:schemeClr val="lt1"/>
          </a:solidFill>
          <a:ln w="25560">
            <a:solidFill>
              <a:schemeClr val="accent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50000"/>
              </a:lnSpc>
              <a:tabLst>
                <a:tab algn="l" pos="0"/>
              </a:tabLst>
            </a:pPr>
            <a:r>
              <a:rPr b="0" lang="pt-BR" sz="2000" spc="-1" strike="noStrike">
                <a:solidFill>
                  <a:srgbClr val="ff0000"/>
                </a:solidFill>
                <a:latin typeface="Arial"/>
                <a:ea typeface="Arial"/>
              </a:rPr>
              <a:t>Para cada indicador com desempenho insatisfatório (farol vermelho) no acumulado anual, deverá ser elaborado um plano de ação (para os indicadores finalísticos), visando neutralizar ou minimizar as causas diagnosticadas.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837000"/>
            <a:ext cx="12188160" cy="45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000000"/>
                </a:solidFill>
                <a:latin typeface="Arial"/>
                <a:ea typeface="Arial"/>
              </a:rPr>
              <a:t>RESUMO DOS INDICADORES – 23º BPM</a:t>
            </a:r>
            <a:endParaRPr b="0" lang="en-US" sz="2400" spc="-1" strike="noStrike">
              <a:latin typeface="Arial"/>
            </a:endParaRPr>
          </a:p>
        </p:txBody>
      </p:sp>
      <p:graphicFrame>
        <p:nvGraphicFramePr>
          <p:cNvPr id="94" name="Table 2"/>
          <p:cNvGraphicFramePr/>
          <p:nvPr/>
        </p:nvGraphicFramePr>
        <p:xfrm>
          <a:off x="926640" y="1757160"/>
          <a:ext cx="9715680" cy="4139280"/>
        </p:xfrm>
        <a:graphic>
          <a:graphicData uri="http://schemas.openxmlformats.org/drawingml/2006/table">
            <a:tbl>
              <a:tblPr/>
              <a:tblGrid>
                <a:gridCol w="5899320"/>
                <a:gridCol w="2112120"/>
                <a:gridCol w="1704600"/>
              </a:tblGrid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INDICADORES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MENSAL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ACUMULADO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e1efd9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TCV - TAXA DE CRIMES VIOLENTOS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THC - TAXA DE HOMICÍDIOS CONSUMADOS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TQF - TAXA QUALIFICADA DE FURTOS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IAF - ÍNDICE DE APREENSÃO DE ARMAS DE FOGO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TRI - TAXA DE REAÇÃO IMEDIATA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RQV – REPRESSÃO QUALIFICADA DA VIOLÊNCIA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ÍNDICE DE EFETIVIDADE NO CUMPRIMENTO DE DDU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IC – INTERAÇÃO COMUNITÁRIA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620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IOLS - INDICADOR DE OPERAÇÃO LEI SECA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  <a:tr h="377640"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pt-BR" sz="2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OPERAÇÕES DO POG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1224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R w="9360">
                      <a:solidFill>
                        <a:srgbClr val="000000"/>
                      </a:solidFill>
                    </a:lnR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pt-BR" sz="2000" spc="-1" strike="noStrike">
                          <a:solidFill>
                            <a:srgbClr val="000000"/>
                          </a:solidFill>
                          <a:latin typeface="Noto Sans Symbols"/>
                          <a:ea typeface="Noto Sans Symbols"/>
                        </a:rPr>
                        <a:t>☺</a:t>
                      </a:r>
                      <a:endParaRPr b="0" lang="en-US" sz="2000" spc="-1" strike="noStrike">
                        <a:latin typeface="Arial"/>
                      </a:endParaRPr>
                    </a:p>
                  </a:txBody>
                  <a:tcPr marL="91440" marR="91440">
                    <a:lnL w="9360">
                      <a:solidFill>
                        <a:srgbClr val="000000"/>
                      </a:solidFill>
                    </a:lnL>
                    <a:lnT w="9360">
                      <a:solidFill>
                        <a:srgbClr val="000000"/>
                      </a:solidFill>
                    </a:lnT>
                    <a:lnB w="9360">
                      <a:solidFill>
                        <a:srgbClr val="000000"/>
                      </a:solidFill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CustomShape 1"/>
          <p:cNvSpPr/>
          <p:nvPr/>
        </p:nvSpPr>
        <p:spPr>
          <a:xfrm>
            <a:off x="1057320" y="2770200"/>
            <a:ext cx="10511640" cy="1321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>
              <a:lnSpc>
                <a:spcPct val="90000"/>
              </a:lnSpc>
              <a:tabLst>
                <a:tab algn="l" pos="0"/>
              </a:tabLst>
            </a:pPr>
            <a:r>
              <a:rPr b="1" lang="pt-BR" sz="6000" spc="-1" strike="noStrike">
                <a:solidFill>
                  <a:srgbClr val="000000"/>
                </a:solidFill>
                <a:latin typeface="Arial"/>
                <a:ea typeface="Arial"/>
              </a:rPr>
              <a:t>OBRIGADO!!!</a:t>
            </a:r>
            <a:endParaRPr b="0" lang="en-US" sz="6000" spc="-1" strike="noStrike">
              <a:latin typeface="Arial"/>
            </a:endParaRPr>
          </a:p>
        </p:txBody>
      </p:sp>
      <p:sp>
        <p:nvSpPr>
          <p:cNvPr id="96" name="CustomShape 2"/>
          <p:cNvSpPr/>
          <p:nvPr/>
        </p:nvSpPr>
        <p:spPr>
          <a:xfrm>
            <a:off x="425520" y="1265400"/>
            <a:ext cx="11320920" cy="3133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2015-04-30T14:35:55Z</dcterms:created>
  <dc:creator>Terceira Seção da 8ª RPM</dc:creator>
  <dc:description/>
  <dc:language>en-US</dc:language>
  <cp:lastModifiedBy/>
  <dcterms:modified xsi:type="dcterms:W3CDTF">2021-09-02T23:25:22Z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31</vt:i4>
  </property>
</Properties>
</file>